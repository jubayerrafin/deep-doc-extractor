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0.85</c:v>
                </c:pt>
                <c:pt idx="2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DE-4837-B2D9-853886436C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</c:v>
                </c:pt>
              </c:strCache>
            </c:strRef>
          </c:tx>
          <c:spPr>
            <a:solidFill>
              <a:srgbClr val="D6404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0-4294-9DEA-F450F17A87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WER</c:v>
                </c:pt>
              </c:strCache>
            </c:strRef>
          </c:tx>
          <c:spPr>
            <a:solidFill>
              <a:srgbClr val="F4B41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0.28999999999999998</c:v>
                </c:pt>
                <c:pt idx="1">
                  <c:v>0.59</c:v>
                </c:pt>
                <c:pt idx="2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C0-4294-9DEA-F450F17A87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0.88</c:v>
                </c:pt>
                <c:pt idx="2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8B-4682-959F-3AAD4C1C30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Georgia"/>
              </a:rPr>
              <a:t>Precision · Recall · 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Render+Mask</c:v>
                </c:pt>
                <c:pt idx="1">
                  <c:v>Gap-Based</c:v>
                </c:pt>
                <c:pt idx="2">
                  <c:v>DocLayout-YOLO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0.97299999999999998</c:v>
                </c:pt>
                <c:pt idx="2">
                  <c:v>0.89500000000000002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E4-44C3-BED9-0F428593F8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4B41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Render+Mask</c:v>
                </c:pt>
                <c:pt idx="1">
                  <c:v>Gap-Based</c:v>
                </c:pt>
                <c:pt idx="2">
                  <c:v>DocLayout-YOLO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0.83699999999999997</c:v>
                </c:pt>
                <c:pt idx="1">
                  <c:v>0.95299999999999996</c:v>
                </c:pt>
                <c:pt idx="2">
                  <c:v>0.60499999999999998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E4-44C3-BED9-0F428593F8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Render+Mask</c:v>
                </c:pt>
                <c:pt idx="1">
                  <c:v>Gap-Based</c:v>
                </c:pt>
                <c:pt idx="2">
                  <c:v>DocLayout-YOLO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</c:v>
                </c:pt>
                <c:pt idx="1">
                  <c:v>0.62</c:v>
                </c:pt>
                <c:pt idx="2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E4-44C3-BED9-0F428593F8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&quot; 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DocLayout-YOLO</c:v>
                </c:pt>
                <c:pt idx="1">
                  <c:v>Render+Mask</c:v>
                </c:pt>
                <c:pt idx="2">
                  <c:v>Gap-Based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2195</c:v>
                </c:pt>
                <c:pt idx="1">
                  <c:v>1240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2-4F39-A6F1-30B9E583B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770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2026  ·  EVALUATION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Extraction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Evaluation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731520" cy="54864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ingestion, text extraction, table detection,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image extraction — measured on 20 randomly sampled pages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HP E877 Series User Guide.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DocuForge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HP Printing Korea — Data Science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05695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Stage 1 targets met on the 20-page sample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46888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evaluated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246888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063240" y="1554480"/>
            <a:ext cx="73152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461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text 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46888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73152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detection F1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3246120"/>
            <a:ext cx="246888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63240" y="3246120"/>
            <a:ext cx="73152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3383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24612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image F1 (Render+Mask)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findings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43600" y="1965960"/>
            <a:ext cx="548640" cy="36576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0" y="22860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2402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is reliable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58775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F1 of 0.891 across Easy / Medium / Hard pages, including HP's denser layout pages.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2461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2004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detection beats target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354787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0.938 with 1.0 precision — Camelot lattice + pdfplumber fallback rejects layout grids correctly.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420624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41605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Render-and-mask wins on images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450799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0.900 — outperforms Gap-Based (0.62) and DocLayout-YOLO (0.72) on real HP E877 pages.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516636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51206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remains practical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546811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Render+Mask runs at 1.24 s/page — slower than Gap-Based but 1.8× faster than DocLayout-YOLO.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STAGE 1 EVALUATION  ·  TEAM DOCUFORGE × HP PRINTING KOREA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68735" y="6547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20-page sample was scored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design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" cy="36576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E877 Series User Guide (241 pages, 13 MB).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pages drawn at random across the document.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annotated text, tables, and image regions.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i5-13420H, 16 GB RAM, CPU only.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48640" cy="36576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194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(higher = better, range 0–1)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69748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/ 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697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/ word error rate against ground truth (lower = better)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20040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items that are correct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70332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items that were detected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20624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4206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Char-error rate inside extracted table cells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STAGE 1 EVALUATION  ·  TEAM DOCUFORGE × HP PRINTING KOREA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68735" y="6547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holds across difficulty tiers; error rates rise with layout complexity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higher is better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&amp; WER — lower is better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78308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5778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stays above 0.85 across all tiers — extraction reliably captures the right tokens. CER/WER trend higher on Medium and Hard pages because of dense multi-column layouts and footnotes that introduce minor token-order noise. The two metrics are scored on different scales: F1 measures coverage of correct tokens, while CER/WER count character/word edits required to match the ground truth.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STAGE 1 EVALUATION  ·  TEAM DOCUFORGE × HP PRINTING KOREA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368735" y="6547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Camelot lattice + pdfplumber fallback exceeds the 90% precision target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0.938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DETECTION F1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3794760"/>
            <a:ext cx="731520" cy="36576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character error rate: 0.161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rejection prevents layout grids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being misread as data tables.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· Recall · F1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943600" y="1965960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57150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 (1.00) means every detected table is a real table — no layout grids slipped through the fill-rate filter. The 0.88 recall reflects two borderless or single-column tables in the sample that Camelot's lattice mode cannot detect; the pdfplumber fallback (FR005 v2.0) closes most of this gap on the full document.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STAGE 1 EVALUATION  ·  TEAM DOCUFORGE × HP PRINTING KOREA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68735" y="6547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EXTRACTION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Render-and-Mask wins on F1 across all three benchmarks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time per page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7315200" y="1920240"/>
          <a:ext cx="44805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315200" y="4434840"/>
            <a:ext cx="448056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315200" y="4434840"/>
            <a:ext cx="73152" cy="100584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498080" y="4498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chosen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498080" y="4754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over speed — Render+Mask is 28× slower than Gap-Based but +0.28 F1 higher. Acceptable: pipeline runs once per document.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57150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Render+Mask achieves the best balance — high precision (0.973) means almost zero false positives, and recall of 0.837 captures the majority of meaningful figures. Gap-Based has high recall but its low precision (chains text gaps as spurious images) drags F1 to 0.62. DocLayout-YOLO misses HP-specific icons rendered as vector Form XObjects.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STAGE 1 EVALUATION  ·  TEAM DOCUFORGE × HP PRINTING KOREA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368735" y="6547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is production-ready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HP E877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731520" cy="54864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566160" cy="21945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56616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F1, all difficulty 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3017520"/>
            <a:ext cx="3566160" cy="21945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3017520"/>
            <a:ext cx="356616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0.938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634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beats 90% precision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3017520"/>
            <a:ext cx="3566160" cy="21945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3017520"/>
            <a:ext cx="356616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0.900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5039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Render+Mask, best of three methods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quality (80.2% pass rate)  ·  Stage 3 augmentation (2,121 records)  ·  Stage 4 RAG demo (in progress)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DocuForge  ·  Woosong University × HP Printing Korea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769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Doc Extractor — Stage 1 Evaluation</dc:title>
  <dc:subject>PptxGenJS Presentation</dc:subject>
  <dc:creator>Team DocuForge</dc:creator>
  <cp:lastModifiedBy>MD JUBAYERHOSSAIN</cp:lastModifiedBy>
  <cp:revision>2</cp:revision>
  <dcterms:created xsi:type="dcterms:W3CDTF">2026-04-29T21:00:39Z</dcterms:created>
  <dcterms:modified xsi:type="dcterms:W3CDTF">2026-04-29T21:05:15Z</dcterms:modified>
</cp:coreProperties>
</file>